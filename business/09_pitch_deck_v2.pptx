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rect">
            <a:avLst/>
          </a:prstGeom>
          <a:solidFill>
            <a:srgbClr val="F0A500">
              <a:alpha val="6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i="1" spc="-100" kern="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5943600" cy="0"/>
          </a:xfrm>
          <a:prstGeom prst="line">
            <a:avLst/>
          </a:prstGeom>
          <a:noFill/>
          <a:ln w="6350">
            <a:solidFill>
              <a:srgbClr val="2D41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ERP fait ce qu'il sait faire.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s'occupe du reste.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42976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Eugène Leconte</a:t>
            </a:r>
            <a:endParaRPr lang="en-US" sz="95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eugeneleconte@outlook.com</a:t>
            </a:r>
            <a:endParaRPr lang="en-US" sz="95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Lille, Hauts-de-France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41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47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</a:t>
            </a:r>
            <a:endParaRPr lang="en-US" sz="3800" dirty="0"/>
          </a:p>
          <a:p>
            <a:pPr indent="0" marL="0">
              <a:buNone/>
            </a:pPr>
            <a:r>
              <a:rPr lang="en-US" sz="38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équipes</a:t>
            </a:r>
            <a:endParaRPr lang="en-US" sz="3800" dirty="0"/>
          </a:p>
          <a:p>
            <a:pPr indent="0" marL="0">
              <a:buNone/>
            </a:pPr>
            <a:r>
              <a:rPr lang="en-US" sz="38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jonglent.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L'ERP couvre 60% des besoins.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reste, c'est du bricolage.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0" y="347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EN PLACE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34840" y="777240"/>
            <a:ext cx="4389120" cy="438912"/>
          </a:xfrm>
          <a:prstGeom prst="roundRect">
            <a:avLst>
              <a:gd name="adj" fmla="val 10417"/>
            </a:avLst>
          </a:prstGeom>
          <a:solidFill>
            <a:srgbClr val="F4F6FA"/>
          </a:solidFill>
          <a:ln w="7620">
            <a:solidFill>
              <a:srgbClr val="D4DC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978408"/>
            <a:ext cx="4114800" cy="0"/>
          </a:xfrm>
          <a:prstGeom prst="line">
            <a:avLst/>
          </a:prstGeom>
          <a:noFill/>
          <a:ln w="10160">
            <a:solidFill>
              <a:srgbClr val="B0BB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7772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planning production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380744"/>
            <a:ext cx="4389120" cy="438912"/>
          </a:xfrm>
          <a:prstGeom prst="roundRect">
            <a:avLst>
              <a:gd name="adj" fmla="val 10417"/>
            </a:avLst>
          </a:prstGeom>
          <a:solidFill>
            <a:srgbClr val="F4F6FA"/>
          </a:solidFill>
          <a:ln w="7620">
            <a:solidFill>
              <a:srgbClr val="D4DC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581912"/>
            <a:ext cx="4114800" cy="0"/>
          </a:xfrm>
          <a:prstGeom prst="line">
            <a:avLst/>
          </a:prstGeom>
          <a:noFill/>
          <a:ln w="10160">
            <a:solidFill>
              <a:srgbClr val="B0BB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8074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stock v3_FINAL.xlsx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984248"/>
            <a:ext cx="4389120" cy="438912"/>
          </a:xfrm>
          <a:prstGeom prst="roundRect">
            <a:avLst>
              <a:gd name="adj" fmla="val 10417"/>
            </a:avLst>
          </a:prstGeom>
          <a:solidFill>
            <a:srgbClr val="F4F6FA"/>
          </a:solidFill>
          <a:ln w="7620">
            <a:solidFill>
              <a:srgbClr val="D4DC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2185416"/>
            <a:ext cx="4114800" cy="0"/>
          </a:xfrm>
          <a:prstGeom prst="line">
            <a:avLst/>
          </a:prstGeom>
          <a:noFill/>
          <a:ln w="10160">
            <a:solidFill>
              <a:srgbClr val="B0BB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8424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RH papier / Word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587752"/>
            <a:ext cx="4389120" cy="438912"/>
          </a:xfrm>
          <a:prstGeom prst="roundRect">
            <a:avLst>
              <a:gd name="adj" fmla="val 10417"/>
            </a:avLst>
          </a:prstGeom>
          <a:solidFill>
            <a:srgbClr val="F4F6FA"/>
          </a:solidFill>
          <a:ln w="7620">
            <a:solidFill>
              <a:srgbClr val="D4DC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788920"/>
            <a:ext cx="4114800" cy="0"/>
          </a:xfrm>
          <a:prstGeom prst="line">
            <a:avLst/>
          </a:prstGeom>
          <a:noFill/>
          <a:ln w="10160">
            <a:solidFill>
              <a:srgbClr val="B0BB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58775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expéditions par email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3191256"/>
            <a:ext cx="4389120" cy="438912"/>
          </a:xfrm>
          <a:prstGeom prst="roundRect">
            <a:avLst>
              <a:gd name="adj" fmla="val 10417"/>
            </a:avLst>
          </a:prstGeom>
          <a:solidFill>
            <a:srgbClr val="F4F6FA"/>
          </a:solidFill>
          <a:ln w="7620">
            <a:solidFill>
              <a:srgbClr val="D4DC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3392424"/>
            <a:ext cx="4114800" cy="0"/>
          </a:xfrm>
          <a:prstGeom prst="line">
            <a:avLst/>
          </a:prstGeom>
          <a:noFill/>
          <a:ln w="10160">
            <a:solidFill>
              <a:srgbClr val="B0BB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19125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paie manuelle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794760"/>
            <a:ext cx="4389120" cy="438912"/>
          </a:xfrm>
          <a:prstGeom prst="roundRect">
            <a:avLst>
              <a:gd name="adj" fmla="val 10417"/>
            </a:avLst>
          </a:prstGeom>
          <a:solidFill>
            <a:srgbClr val="EEF4FF"/>
          </a:solidFill>
          <a:ln w="7620">
            <a:solidFill>
              <a:srgbClr val="3A7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7947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 →  60% couvert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seul outil,
</a:t>
            </a:r>
            <a:pPr indent="0" marL="0">
              <a:lnSpc>
                <a:spcPct val="120000"/>
              </a:lnSpc>
              <a:buNone/>
            </a:pPr>
            <a:r>
              <a:rPr lang="en-US" sz="3400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fabriqué pour vos équipes.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783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965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2788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avec vous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218688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commence sur le terrain. On observe comment vos équipes travaillent vraiment. L'outil s'adapte à vous — pas l'inverse.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4343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Zéro formation lourde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920240"/>
            <a:ext cx="0" cy="292608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65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46120" y="2788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en un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3218688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planning, stock, RH, paie, expéditions — dans une seule interface. Complémentaire à votre ERP.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4343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 outil au lieu de six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920240"/>
            <a:ext cx="0" cy="292608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965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172200" y="2788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218688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Hébergement, mises à jour, support direct. On reste disponibles sur le long terme.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4343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Abonnement mensuel clair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CLIENT · EN PRODUCTION DEPUIS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MySIFA — SIFA, Loos (59)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industrielle. Utilisé quotidiennement par toutes les équipes.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0"/>
          </a:xfrm>
          <a:prstGeom prst="line">
            <a:avLst/>
          </a:prstGeom>
          <a:noFill/>
          <a:ln w="6350">
            <a:solidFill>
              <a:srgbClr val="2D41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planning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48256"/>
            <a:ext cx="2926080" cy="0"/>
          </a:xfrm>
          <a:prstGeom prst="line">
            <a:avLst/>
          </a:prstGeom>
          <a:noFill/>
          <a:ln w="10160">
            <a:solidFill>
              <a:srgbClr val="2D41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3172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317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stock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2926080" cy="0"/>
          </a:xfrm>
          <a:prstGeom prst="line">
            <a:avLst/>
          </a:prstGeom>
          <a:noFill/>
          <a:ln w="10160">
            <a:solidFill>
              <a:srgbClr val="2D41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88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RH papier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962656"/>
            <a:ext cx="2926080" cy="0"/>
          </a:xfrm>
          <a:prstGeom prst="line">
            <a:avLst/>
          </a:prstGeom>
          <a:noFill/>
          <a:ln w="10160">
            <a:solidFill>
              <a:srgbClr val="2D41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4612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46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expé notes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19856"/>
            <a:ext cx="2926080" cy="0"/>
          </a:xfrm>
          <a:prstGeom prst="line">
            <a:avLst/>
          </a:prstGeom>
          <a:noFill/>
          <a:ln w="10160">
            <a:solidFill>
              <a:srgbClr val="2D41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0332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03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paie manuelle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877056"/>
            <a:ext cx="2926080" cy="0"/>
          </a:xfrm>
          <a:prstGeom prst="line">
            <a:avLst/>
          </a:prstGeom>
          <a:noFill/>
          <a:ln w="10160">
            <a:solidFill>
              <a:srgbClr val="2D41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16052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60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outils distincts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03320" y="2697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480560" y="15727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MYSIFA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80560" y="1874520"/>
            <a:ext cx="429768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874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machine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80560" y="2331720"/>
            <a:ext cx="429768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2331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stocks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80560" y="2788920"/>
            <a:ext cx="429768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2788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3246120"/>
            <a:ext cx="429768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3246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expéditions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480560" y="3703320"/>
            <a:ext cx="4297680" cy="347472"/>
          </a:xfrm>
          <a:prstGeom prst="roundRect">
            <a:avLst>
              <a:gd name="adj" fmla="val 13158"/>
            </a:avLst>
          </a:prstGeom>
          <a:solidFill>
            <a:srgbClr val="1E2E42"/>
          </a:solidFill>
          <a:ln w="6350">
            <a:solidFill>
              <a:srgbClr val="2A3E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3703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paie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80560" y="4160520"/>
            <a:ext cx="4297680" cy="347472"/>
          </a:xfrm>
          <a:prstGeom prst="roundRect">
            <a:avLst>
              <a:gd name="adj" fmla="val 13158"/>
            </a:avLst>
          </a:prstGeom>
          <a:solidFill>
            <a:srgbClr val="1A2E45"/>
          </a:solidFill>
          <a:ln w="15240">
            <a:solidFill>
              <a:srgbClr val="3A7B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4160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outil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41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étapes.</a:t>
            </a:r>
            <a:pPr indent="0" marL="0">
              <a:buNone/>
            </a:pPr>
            <a:r>
              <a:rPr lang="en-US" sz="3000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Du terrain au déploiement.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87168"/>
            <a:ext cx="7498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50008"/>
            <a:ext cx="274320" cy="274320"/>
          </a:xfrm>
          <a:prstGeom prst="ellipse">
            <a:avLst/>
          </a:prstGeom>
          <a:solidFill>
            <a:srgbClr val="3A7BD5"/>
          </a:solidFill>
          <a:ln w="190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727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2788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sem.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429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vient sur site. On observe comment vos équipes travaillent. Le brief sort du terrain, pas d'un formulaire.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" y="4315968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611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validé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4535424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80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défini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" y="4754880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70001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semaine par semaine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0440" y="2350008"/>
            <a:ext cx="274320" cy="274320"/>
          </a:xfrm>
          <a:prstGeom prst="ellipse">
            <a:avLst/>
          </a:prstGeom>
          <a:solidFill>
            <a:srgbClr val="3A7BD5"/>
          </a:solidFill>
          <a:ln w="1905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5727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200400" y="2788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788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sem.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429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courtes, démos régulières. Vous voyez avancer chaque semaine. Aucune boite noire.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18688" y="4315968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42611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environnement test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8688" y="4535424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480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régulière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18688" y="4754880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470001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sous 48h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2350008"/>
            <a:ext cx="274320" cy="274320"/>
          </a:xfrm>
          <a:prstGeom prst="ellipse">
            <a:avLst/>
          </a:prstGeom>
          <a:solidFill>
            <a:srgbClr val="3A7BD5"/>
          </a:solidFill>
          <a:ln w="19050">
            <a:solidFill>
              <a:srgbClr val="F4F6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5727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080760" y="2788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suivi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2788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429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Formation, VPS dédié, abonnement mensuel. On reste disponibles sur le long terme.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99048" y="4315968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2611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VPS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99048" y="4535424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4480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initiale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99048" y="4754880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70001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mensuel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DISPONIBLES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outil est assemblé selon votre contexte.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4F6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4538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 production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2336" y="21488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temps réel opérateur &amp; machine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325880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4F6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14538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51176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machine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51176" y="21488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visuel, dossiers, priorités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4F6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4538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0016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stocks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0016" y="21488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Emplacements, mouvements, alertes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1325880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4F6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14538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48856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RH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48856" y="21488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Congés, absences, affectations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4F6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1455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paie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02336" y="38404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variables préparés auto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23160" y="3017520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4F6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1176" y="31455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51176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51176" y="38404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Départs, transporteurs, traçabilité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3017520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4F6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1455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0016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00016" y="38404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temps réel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20840" y="3017520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EEF4FF"/>
          </a:solidFill>
          <a:ln w="15240">
            <a:solidFill>
              <a:srgbClr val="3A7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8856" y="31455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48856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mesure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48856" y="38404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que votre métier nécessite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&amp; TARIFS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tarifs pensés
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les PME.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719072"/>
            <a:ext cx="2743200" cy="3218688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modules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utilisateurs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2 500€ – 4 000€ HT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+ 150€ HT / mois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364992"/>
            <a:ext cx="23774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493008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47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sur site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58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VPS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69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email 48h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719072"/>
            <a:ext cx="2743200" cy="3218688"/>
          </a:xfrm>
          <a:prstGeom prst="roundRect">
            <a:avLst>
              <a:gd name="adj" fmla="val 3333"/>
            </a:avLst>
          </a:prstGeom>
          <a:solidFill>
            <a:srgbClr val="1A2332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1481328"/>
            <a:ext cx="1737360" cy="237744"/>
          </a:xfrm>
          <a:prstGeom prst="roundRect">
            <a:avLst>
              <a:gd name="adj" fmla="val 23077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48132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courant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7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21305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modules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30–100 utilisateurs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651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4 000€ – 7 000€ HT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83280" y="3035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+ 280€ HT / mois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364992"/>
            <a:ext cx="2377440" cy="0"/>
          </a:xfrm>
          <a:prstGeom prst="line">
            <a:avLst/>
          </a:prstGeom>
          <a:noFill/>
          <a:ln w="6350">
            <a:solidFill>
              <a:srgbClr val="2D41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493008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447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803904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758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incluses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4114800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069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prioritaire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442569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43799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mensuelle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1719072"/>
            <a:ext cx="2743200" cy="3218688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09360" y="21305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étendu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2651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 devis HT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9360" y="3035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+ 490€ HT / mois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3364992"/>
            <a:ext cx="23774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493008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447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partagée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3803904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758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6h/mois évolutions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4114800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069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4425696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43799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absolue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2025 – 2028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modèle en cours de validation,
</a:t>
            </a:r>
            <a:pPr indent="0" marL="0">
              <a:buNone/>
            </a:pPr>
            <a:r>
              <a:rPr lang="en-US" sz="2200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trajectoire claire.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8503920" cy="0"/>
          </a:xfrm>
          <a:prstGeom prst="line">
            <a:avLst/>
          </a:prstGeom>
          <a:noFill/>
          <a:ln w="6350">
            <a:solidFill>
              <a:srgbClr val="2D41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19050">
            <a:solidFill>
              <a:srgbClr val="2D41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798064"/>
            <a:ext cx="256032" cy="256032"/>
          </a:xfrm>
          <a:prstGeom prst="ellipse">
            <a:avLst/>
          </a:prstGeom>
          <a:solidFill>
            <a:srgbClr val="3A7BD5"/>
          </a:solidFill>
          <a:ln w="1905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" y="16916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actif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(MySIFA)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349300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1E2E42"/>
          </a:solidFill>
          <a:ln w="6350">
            <a:solidFill>
              <a:srgbClr val="2D41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34930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~280€/mois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06624" y="2798064"/>
            <a:ext cx="256032" cy="256032"/>
          </a:xfrm>
          <a:prstGeom prst="ellipse">
            <a:avLst/>
          </a:prstGeom>
          <a:solidFill>
            <a:srgbClr val="3A7BD5"/>
          </a:solidFill>
          <a:ln w="19050">
            <a:solidFill>
              <a:srgbClr val="1A2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0" y="16916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2860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actifs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349300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1E2E42"/>
          </a:solidFill>
          <a:ln w="6350">
            <a:solidFill>
              <a:srgbClr val="2D41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34930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~2 800€/mois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92624" y="2798064"/>
            <a:ext cx="256032" cy="256032"/>
          </a:xfrm>
          <a:prstGeom prst="ellipse">
            <a:avLst/>
          </a:prstGeom>
          <a:solidFill>
            <a:srgbClr val="F0A500"/>
          </a:solidFill>
          <a:ln w="19050">
            <a:solidFill>
              <a:srgbClr val="1A2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16916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— 100%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49300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1E2E42"/>
          </a:solidFill>
          <a:ln w="6350">
            <a:solidFill>
              <a:srgbClr val="2D41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4930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~4 500€/mois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78624" y="2798064"/>
            <a:ext cx="256032" cy="256032"/>
          </a:xfrm>
          <a:prstGeom prst="ellipse">
            <a:avLst/>
          </a:prstGeom>
          <a:solidFill>
            <a:srgbClr val="3A7BD5"/>
          </a:solidFill>
          <a:ln w="19050">
            <a:solidFill>
              <a:srgbClr val="1A23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16916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8580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349300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1E2E42"/>
          </a:solidFill>
          <a:ln w="6350">
            <a:solidFill>
              <a:srgbClr val="2D41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4930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~8 000€/mois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D4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Récurrent mensuel estimé (abonnements seuls, hors prestations ponctuelles)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41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MOI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Eugène Leconte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· Développeur full-stack · Entrepreneur local · Hauts-de-France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933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933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d'abord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MySIFA est en production chez SIFA. Ce n'est pas une démo — c'est un outil utilisé tous les jours par de vraies équipes. La preuve avant la promesse.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933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9933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métier avant le code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23591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commence toujours par comprendre comment vous travaillez. Je viens sur site. L'outil s'adapte à vos usages réels — pas à une spec générique.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107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4107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et disponible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7764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basé dans la métropole lilloise. On peut se voir. Je réponds vite. Je reste disponible sur la durée — pas un prestataire qui livre et disparaît.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4107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4107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sobre et fiable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37764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 côté serveur, JavaScript vanilla côté interface. Pas de dépendance à des frameworks fragiles. Un outil qui tiendra 10 ans.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F0A500">
              <a:alpha val="8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4163"/>
          </a:solidFill>
          <a:ln w="12700">
            <a:solidFill>
              <a:srgbClr val="2D41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Parlons de votre projet.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0" cy="0"/>
          </a:xfrm>
          <a:prstGeom prst="line">
            <a:avLst/>
          </a:prstGeom>
          <a:noFill/>
          <a:ln w="6350">
            <a:solidFill>
              <a:srgbClr val="2D41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vos équipes jonglent entre trop d'outils,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probablement quelque chose à construire ensemble.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011680" y="2971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eugeneleconte@outlook.com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924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011680" y="339242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Métropole lilloise, Hauts-de-France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CONTACT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11680" y="38130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gratuit · 30 minutes · Sans engagement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8229600" cy="0"/>
          </a:xfrm>
          <a:prstGeom prst="line">
            <a:avLst/>
          </a:prstGeom>
          <a:noFill/>
          <a:ln w="6350">
            <a:solidFill>
              <a:srgbClr val="2D41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4251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2D41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41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</dc:title>
  <dc:subject>PptxGenJS Presentation</dc:subject>
  <dc:creator>Eugène Leconte</dc:creator>
  <cp:lastModifiedBy>Eugène Leconte</cp:lastModifiedBy>
  <cp:revision>1</cp:revision>
  <dcterms:created xsi:type="dcterms:W3CDTF">2026-05-06T19:05:17Z</dcterms:created>
  <dcterms:modified xsi:type="dcterms:W3CDTF">2026-05-06T19:05:17Z</dcterms:modified>
</cp:coreProperties>
</file>